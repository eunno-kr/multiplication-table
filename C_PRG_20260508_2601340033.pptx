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55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3" autoAdjust="0"/>
    <p:restoredTop sz="94610"/>
  </p:normalViewPr>
  <p:slideViewPr>
    <p:cSldViewPr snapToGrid="0" snapToObjects="1">
      <p:cViewPr>
        <p:scale>
          <a:sx n="150" d="100"/>
          <a:sy n="150" d="100"/>
        </p:scale>
        <p:origin x="22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820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C21EE-F6F8-ADF7-DC9C-6720C2F86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F1913-FCB0-2DF4-29D9-E46E8F1DC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C4FD5-1A9B-8453-5937-EEB015E72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3F5E1-43AB-DEE3-FD42-E33C54D875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915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62055"/>
          </a:solidFill>
          <a:ln w="12700">
            <a:solidFill>
              <a:srgbClr val="1620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73152" cy="18288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800" b="1" dirty="0">
                <a:solidFill>
                  <a:srgbClr val="FFFFFF"/>
                </a:solidFill>
                <a:latin typeface="Arial Black" pitchFamily="34" charset="0"/>
              </a:rPr>
              <a:t>Computer Vision Programming </a:t>
            </a:r>
          </a:p>
          <a:p>
            <a:r>
              <a:rPr lang="en-US" altLang="ko-KR" sz="2800" b="1" dirty="0">
                <a:solidFill>
                  <a:srgbClr val="FFFFFF"/>
                </a:solidFill>
                <a:latin typeface="Arial Black" pitchFamily="34" charset="0"/>
              </a:rPr>
              <a:t>Assignment</a:t>
            </a:r>
            <a:endParaRPr lang="en-US" sz="2800" b="1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Programming C++</a:t>
            </a:r>
            <a:r>
              <a:rPr lang="en-US" altLang="ko-KR" dirty="0"/>
              <a:t>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함수 분리 이유와 장점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Call by Value / Reference / Pointer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변수 종류 비교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구구단 프로그램 + 순서도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00" dirty="0" err="1">
                <a:solidFill>
                  <a:srgbClr val="78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Jeong_Eun_Ho</a:t>
            </a:r>
            <a:r>
              <a:rPr lang="en-US" altLang="ko-KR" sz="1200" dirty="0">
                <a:solidFill>
                  <a:srgbClr val="78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| 2601340033</a:t>
            </a:r>
            <a:endParaRPr lang="en-US" sz="1200" dirty="0">
              <a:solidFill>
                <a:srgbClr val="7890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함수로 나누어 작성해야 하는 이유와 장점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840480" cy="3566160"/>
          </a:xfrm>
          <a:prstGeom prst="rect">
            <a:avLst/>
          </a:prstGeom>
          <a:solidFill>
            <a:srgbClr val="E8EFFF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코드가 길어질수록 하나의 main()에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 작성하면 구조 파악이 어렵고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발생 시 원인을 찾기 힘들어짐.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기능별로 분리하여 코드의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구조와 흐름을 명확히 해야 함.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4206240" cy="3566160"/>
          </a:xfrm>
          <a:prstGeom prst="rect">
            <a:avLst/>
          </a:prstGeom>
          <a:solidFill>
            <a:srgbClr val="E8EFFF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66344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장점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09160" y="16002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재사용성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기능을 반복 구현할 필요 없이 함수 호출만으로 재사용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가독성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짧고 명확한 코드로 이해가 쉬워짐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유지보수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발생 시 해당 함수만 수정하면 됨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모듈화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기능별 분리로 팀 협업이 쉬워짐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함수에서의 변수 값 변화 비교</a:t>
            </a:r>
            <a:endParaRPr lang="en-US" sz="2200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60539EB-8603-501E-DBB7-EAA0E45543B6}"/>
              </a:ext>
            </a:extLst>
          </p:cNvPr>
          <p:cNvGrpSpPr/>
          <p:nvPr/>
        </p:nvGrpSpPr>
        <p:grpSpPr>
          <a:xfrm>
            <a:off x="274320" y="1097280"/>
            <a:ext cx="8595360" cy="2531745"/>
            <a:chOff x="274320" y="1097280"/>
            <a:chExt cx="8595360" cy="3520440"/>
          </a:xfrm>
        </p:grpSpPr>
        <p:sp>
          <p:nvSpPr>
            <p:cNvPr id="4" name="Shape 2"/>
            <p:cNvSpPr/>
            <p:nvPr/>
          </p:nvSpPr>
          <p:spPr>
            <a:xfrm>
              <a:off x="274320" y="1097280"/>
              <a:ext cx="2743200" cy="457200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274320" y="1097280"/>
              <a:ext cx="2743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Call by Value</a:t>
              </a:r>
              <a:endParaRPr lang="en-US" sz="13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274320" y="1554480"/>
              <a:ext cx="2743200" cy="1005840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365760" y="1600200"/>
              <a:ext cx="256032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40000"/>
                </a:lnSpc>
                <a:buNone/>
              </a:pPr>
              <a:r>
                <a:rPr lang="en-US" sz="1300" dirty="0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값을 복사해서 전달</a:t>
              </a:r>
              <a:endParaRPr lang="en-US" sz="1300" dirty="0"/>
            </a:p>
            <a:p>
              <a:pPr marL="0" indent="0">
                <a:lnSpc>
                  <a:spcPct val="140000"/>
                </a:lnSpc>
                <a:buNone/>
              </a:pPr>
              <a:r>
                <a:rPr lang="ko-KR" altLang="en-US" sz="1300" dirty="0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▶</a:t>
              </a:r>
              <a:r>
                <a:rPr lang="en-US" sz="1300" dirty="0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원본 </a:t>
              </a:r>
              <a:r>
                <a:rPr lang="en-US" sz="1300" dirty="0" err="1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변경</a:t>
              </a:r>
              <a:r>
                <a:rPr lang="en-US" sz="1300" dirty="0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ko-KR" altLang="en-US" sz="1300" dirty="0">
                  <a:solidFill>
                    <a:srgbClr val="FF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불가</a:t>
              </a:r>
              <a:endParaRPr lang="en-US" sz="1300" dirty="0">
                <a:solidFill>
                  <a:srgbClr val="FF0000"/>
                </a:solidFill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274320" y="2606040"/>
              <a:ext cx="2743200" cy="201168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365760" y="2651760"/>
              <a:ext cx="2560320" cy="1920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93C5F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void f(int x) {</a:t>
              </a:r>
              <a:endParaRPr lang="en-US" sz="1200" dirty="0"/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93C5F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x = 100;</a:t>
              </a:r>
              <a:endParaRPr lang="en-US" sz="1200" dirty="0"/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93C5F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원본 불변</a:t>
              </a:r>
              <a:endParaRPr lang="en-US" sz="1200" dirty="0"/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93C5F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12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200400" y="1097280"/>
              <a:ext cx="2743200" cy="457200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3200400" y="1097280"/>
              <a:ext cx="2743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Call by Reference</a:t>
              </a:r>
              <a:endParaRPr lang="en-US" sz="13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200400" y="1554480"/>
              <a:ext cx="2743200" cy="1005840"/>
            </a:xfrm>
            <a:prstGeom prst="rect">
              <a:avLst/>
            </a:prstGeom>
            <a:solidFill>
              <a:srgbClr val="D1FAE5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3291840" y="1600200"/>
              <a:ext cx="256032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40000"/>
                </a:lnSpc>
                <a:buNone/>
              </a:pPr>
              <a:r>
                <a:rPr lang="en-US" sz="1300" dirty="0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변수 자체를 참조</a:t>
              </a:r>
              <a:endParaRPr lang="en-US" sz="1300" dirty="0"/>
            </a:p>
            <a:p>
              <a:pPr>
                <a:lnSpc>
                  <a:spcPct val="140000"/>
                </a:lnSpc>
              </a:pPr>
              <a:r>
                <a:rPr lang="ko-KR" altLang="en-US" sz="1300" dirty="0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▶</a:t>
              </a:r>
              <a:r>
                <a:rPr lang="en-US" sz="1300" dirty="0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원본 </a:t>
              </a:r>
              <a:r>
                <a:rPr lang="en-US" sz="1300" dirty="0" err="1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변경</a:t>
              </a:r>
              <a:r>
                <a:rPr lang="en-US" sz="1300" dirty="0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ko-KR" altLang="en-US" sz="1300" dirty="0">
                  <a:solidFill>
                    <a:srgbClr val="FF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가능</a:t>
              </a:r>
              <a:endParaRPr lang="en-US" sz="1300" dirty="0">
                <a:solidFill>
                  <a:srgbClr val="FF0000"/>
                </a:solidFill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3200400" y="2606040"/>
              <a:ext cx="2743200" cy="201168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3291840" y="2651760"/>
              <a:ext cx="2560320" cy="1920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93C5F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void f(int &amp;x) {</a:t>
              </a:r>
              <a:endParaRPr lang="en-US" sz="1200" dirty="0"/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93C5F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x = 100;</a:t>
              </a:r>
              <a:endParaRPr lang="en-US" sz="1200" dirty="0"/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93C5F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원본 변경</a:t>
              </a:r>
              <a:endParaRPr lang="en-US" sz="1200" dirty="0"/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93C5F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12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126480" y="1097280"/>
              <a:ext cx="2743200" cy="457200"/>
            </a:xfrm>
            <a:prstGeom prst="rect">
              <a:avLst/>
            </a:prstGeom>
            <a:solidFill>
              <a:srgbClr val="8B5CF6"/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6126480" y="1097280"/>
              <a:ext cx="2743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Call by Pointer</a:t>
              </a:r>
              <a:endParaRPr lang="en-US" sz="13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126480" y="1554480"/>
              <a:ext cx="2743200" cy="1005840"/>
            </a:xfrm>
            <a:prstGeom prst="rect">
              <a:avLst/>
            </a:prstGeom>
            <a:solidFill>
              <a:srgbClr val="EDE9FE"/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6217920" y="1600200"/>
              <a:ext cx="256032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40000"/>
                </a:lnSpc>
                <a:buNone/>
              </a:pPr>
              <a:r>
                <a:rPr lang="en-US" sz="1300" dirty="0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주소값을 전달</a:t>
              </a:r>
              <a:endParaRPr lang="en-US" sz="1300" dirty="0"/>
            </a:p>
            <a:p>
              <a:pPr>
                <a:lnSpc>
                  <a:spcPct val="140000"/>
                </a:lnSpc>
              </a:pPr>
              <a:r>
                <a:rPr lang="ko-KR" altLang="en-US" sz="1300" dirty="0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▶</a:t>
              </a:r>
              <a:r>
                <a:rPr lang="en-US" sz="1300" dirty="0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300" dirty="0" err="1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원본</a:t>
              </a:r>
              <a:r>
                <a:rPr lang="en-US" sz="1300" dirty="0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300" dirty="0" err="1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변경</a:t>
              </a:r>
              <a:r>
                <a:rPr lang="en-US" sz="1300" dirty="0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ko-KR" altLang="en-US" sz="1300" dirty="0">
                  <a:solidFill>
                    <a:srgbClr val="FF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가능</a:t>
              </a:r>
              <a:r>
                <a:rPr lang="en-US" sz="1300" dirty="0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endParaRPr lang="en-US" sz="13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126480" y="2606040"/>
              <a:ext cx="2743200" cy="201168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6217920" y="2651760"/>
              <a:ext cx="2560320" cy="1920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93C5F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void f(int *x) {</a:t>
              </a:r>
              <a:endParaRPr lang="en-US" sz="1200" dirty="0"/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93C5F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*x = 100;</a:t>
              </a:r>
              <a:endParaRPr lang="en-US" sz="1200" dirty="0"/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93C5F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원본 변경</a:t>
              </a:r>
              <a:endParaRPr lang="en-US" sz="1200" dirty="0"/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93C5F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1200" dirty="0"/>
            </a:p>
          </p:txBody>
        </p:sp>
      </p:grpSp>
      <p:sp>
        <p:nvSpPr>
          <p:cNvPr id="22" name="Text 20"/>
          <p:cNvSpPr/>
          <p:nvPr/>
        </p:nvSpPr>
        <p:spPr>
          <a:xfrm>
            <a:off x="274320" y="370000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 변경 여부 비교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174224"/>
              </p:ext>
            </p:extLst>
          </p:nvPr>
        </p:nvGraphicFramePr>
        <p:xfrm>
          <a:off x="274320" y="3936224"/>
          <a:ext cx="8595360" cy="11582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원본 변경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전달 방식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by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변경 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불가</a:t>
                      </a:r>
                      <a:endParaRPr lang="en-US" sz="13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값 복사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by Reference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</a:t>
                      </a:r>
                      <a:endParaRPr lang="en-US" sz="13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변수 참조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by Pointer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</a:t>
                      </a:r>
                      <a:endParaRPr lang="en-US" sz="13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주소 전달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전역변수 / 지역변수 / 자동 지역변수 / 정적 지역변수</a:t>
            </a:r>
            <a:endParaRPr lang="en-US" sz="1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222272"/>
              </p:ext>
            </p:extLst>
          </p:nvPr>
        </p:nvGraphicFramePr>
        <p:xfrm>
          <a:off x="274320" y="1097280"/>
          <a:ext cx="8595360" cy="240563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49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변수 종류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선언 위치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 범위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유지 기간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9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전역변수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(Global)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함수 밖 (프로그램 최상단)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프로그램 전체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프로그램 종료까지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9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지역변수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(Local)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함수 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해당 함수 내부만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함수 종료 시 사라짐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9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자동 지역변수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(auto)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함수 안 (auto 키워드)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해당 함수 내부만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함수 종료 시 사라짐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9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정적 지역변수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(static)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함수 안 (static 키워드)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해당 함수 내부만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프로그램 종료까지 유지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274320" y="350291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예시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3758184"/>
            <a:ext cx="8595360" cy="136626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57200" y="395097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global = 0;           // 전역변수 - 어디서든 접근 가능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func() 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local = 0;        // 지역변수 (auto 생략 형태)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 int a = 0;       // 자동 지역변수 - 지역변수와 동일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int s = 0;     // 정적 지역변수 - 함수 종료 후에도 값 유지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구구단 2~9단 출력 프로그램 (C 코드)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3840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700" dirty="0"/>
          </a:p>
          <a:p>
            <a:pPr marL="0" indent="0">
              <a:lnSpc>
                <a:spcPct val="135000"/>
              </a:lnSpc>
              <a:buNone/>
            </a:pPr>
            <a:endParaRPr lang="en-US" sz="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printDan(int dan) {</a:t>
            </a:r>
            <a:endParaRPr lang="en-US" sz="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1; i &lt;= 9; i++) {</a:t>
            </a:r>
            <a:endParaRPr lang="en-US" sz="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printf("%dx%d=%2d  ", dan, i, dan * i);</a:t>
            </a:r>
            <a:endParaRPr lang="en-US" sz="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printf("\n");</a:t>
            </a:r>
            <a:endParaRPr lang="en-US" sz="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  <a:p>
            <a:pPr marL="0" indent="0">
              <a:lnSpc>
                <a:spcPct val="135000"/>
              </a:lnSpc>
              <a:buNone/>
            </a:pPr>
            <a:endParaRPr lang="en-US" sz="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dan = 2; dan &lt;= 9; dan++) {</a:t>
            </a:r>
            <a:endParaRPr lang="en-US" sz="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printf("%d단\t\t", dan);</a:t>
            </a:r>
            <a:endParaRPr lang="en-US" sz="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printf("\n");</a:t>
            </a:r>
            <a:endParaRPr lang="en-US" sz="700" dirty="0"/>
          </a:p>
          <a:p>
            <a:pPr marL="0" indent="0">
              <a:lnSpc>
                <a:spcPct val="135000"/>
              </a:lnSpc>
              <a:buNone/>
            </a:pPr>
            <a:endParaRPr lang="en-US" sz="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1; i &lt;= 9; i++) {</a:t>
            </a:r>
            <a:endParaRPr lang="en-US" sz="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dan = 2; dan &lt;= 9; dan++) {</a:t>
            </a:r>
            <a:endParaRPr lang="en-US" sz="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printf("%dx%d=%2d\t\t", dan, i, dan * i);</a:t>
            </a:r>
            <a:endParaRPr lang="en-US" sz="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printf("\n");</a:t>
            </a:r>
            <a:endParaRPr lang="en-US" sz="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327AFEF-D338-78C3-D2FA-283B82FAE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307" y="2112914"/>
            <a:ext cx="5153593" cy="14845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C570C5-2ED1-8A0C-DD7E-F754E9A63294}"/>
              </a:ext>
            </a:extLst>
          </p:cNvPr>
          <p:cNvSpPr txBox="1"/>
          <p:nvPr/>
        </p:nvSpPr>
        <p:spPr>
          <a:xfrm>
            <a:off x="5541678" y="1765228"/>
            <a:ext cx="958850" cy="261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ko-KR" altLang="en-US" sz="900" b="1" dirty="0">
                <a:solidFill>
                  <a:srgbClr val="93C5FD"/>
                </a:solidFill>
                <a:latin typeface="Consolas" pitchFamily="34" charset="0"/>
              </a:rPr>
              <a:t>결과물</a:t>
            </a:r>
            <a:r>
              <a:rPr lang="en-US" altLang="ko-KR" sz="900" b="1" dirty="0">
                <a:solidFill>
                  <a:srgbClr val="93C5FD"/>
                </a:solidFill>
                <a:latin typeface="Consolas" pitchFamily="34" charset="0"/>
              </a:rPr>
              <a:t>(</a:t>
            </a:r>
            <a:r>
              <a:rPr lang="ko-KR" altLang="en-US" sz="900" b="1" dirty="0" err="1">
                <a:solidFill>
                  <a:srgbClr val="93C5FD"/>
                </a:solidFill>
                <a:latin typeface="Consolas" pitchFamily="34" charset="0"/>
              </a:rPr>
              <a:t>출력값</a:t>
            </a:r>
            <a:r>
              <a:rPr lang="en-US" altLang="ko-KR" sz="900" b="1" dirty="0">
                <a:solidFill>
                  <a:srgbClr val="93C5FD"/>
                </a:solidFill>
                <a:latin typeface="Consolas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D061B62B-CAD6-2DD6-0C8B-41C51115714F}"/>
              </a:ext>
            </a:extLst>
          </p:cNvPr>
          <p:cNvCxnSpPr>
            <a:cxnSpLocks/>
            <a:endCxn id="31" idx="3"/>
          </p:cNvCxnSpPr>
          <p:nvPr/>
        </p:nvCxnSpPr>
        <p:spPr>
          <a:xfrm flipH="1" flipV="1">
            <a:off x="5120640" y="4777740"/>
            <a:ext cx="2290762" cy="4572"/>
          </a:xfrm>
          <a:prstGeom prst="straightConnector1">
            <a:avLst/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BB92B7D6-0F8D-7C6F-0A42-278E8DBCE919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5120640" y="4192524"/>
            <a:ext cx="1280160" cy="18288"/>
          </a:xfrm>
          <a:prstGeom prst="straightConnector1">
            <a:avLst/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5CC77B10-983A-D199-15CF-D14C19502050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5120640" y="3058668"/>
            <a:ext cx="1645920" cy="4572"/>
          </a:xfrm>
          <a:prstGeom prst="straightConnector1">
            <a:avLst/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C5FDC7A8-3716-3AC2-0164-095930628374}"/>
              </a:ext>
            </a:extLst>
          </p:cNvPr>
          <p:cNvCxnSpPr>
            <a:cxnSpLocks/>
          </p:cNvCxnSpPr>
          <p:nvPr/>
        </p:nvCxnSpPr>
        <p:spPr>
          <a:xfrm>
            <a:off x="4114800" y="4288918"/>
            <a:ext cx="0" cy="274320"/>
          </a:xfrm>
          <a:prstGeom prst="straightConnector1">
            <a:avLst/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A1BA1F81-EA06-1C35-B4AF-71600C22516D}"/>
              </a:ext>
            </a:extLst>
          </p:cNvPr>
          <p:cNvCxnSpPr>
            <a:cxnSpLocks/>
          </p:cNvCxnSpPr>
          <p:nvPr/>
        </p:nvCxnSpPr>
        <p:spPr>
          <a:xfrm>
            <a:off x="4114800" y="3698938"/>
            <a:ext cx="0" cy="274320"/>
          </a:xfrm>
          <a:prstGeom prst="straightConnector1">
            <a:avLst/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D31DF67E-018A-18CA-0CFC-8F858994B643}"/>
              </a:ext>
            </a:extLst>
          </p:cNvPr>
          <p:cNvCxnSpPr>
            <a:cxnSpLocks/>
          </p:cNvCxnSpPr>
          <p:nvPr/>
        </p:nvCxnSpPr>
        <p:spPr>
          <a:xfrm>
            <a:off x="4114800" y="3152299"/>
            <a:ext cx="0" cy="274320"/>
          </a:xfrm>
          <a:prstGeom prst="straightConnector1">
            <a:avLst/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AEB9825B-2803-9640-0553-1D908B5DED64}"/>
              </a:ext>
            </a:extLst>
          </p:cNvPr>
          <p:cNvCxnSpPr>
            <a:cxnSpLocks/>
          </p:cNvCxnSpPr>
          <p:nvPr/>
        </p:nvCxnSpPr>
        <p:spPr>
          <a:xfrm>
            <a:off x="4114800" y="2555558"/>
            <a:ext cx="0" cy="274320"/>
          </a:xfrm>
          <a:prstGeom prst="straightConnector1">
            <a:avLst/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4DE9F297-4258-6FA0-CBA4-5E7592A697B9}"/>
              </a:ext>
            </a:extLst>
          </p:cNvPr>
          <p:cNvCxnSpPr>
            <a:cxnSpLocks/>
          </p:cNvCxnSpPr>
          <p:nvPr/>
        </p:nvCxnSpPr>
        <p:spPr>
          <a:xfrm>
            <a:off x="4114800" y="1959292"/>
            <a:ext cx="0" cy="274320"/>
          </a:xfrm>
          <a:prstGeom prst="straightConnector1">
            <a:avLst/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9777C02-79BE-ED2F-60C3-C12FE51442D1}"/>
              </a:ext>
            </a:extLst>
          </p:cNvPr>
          <p:cNvCxnSpPr>
            <a:cxnSpLocks/>
          </p:cNvCxnSpPr>
          <p:nvPr/>
        </p:nvCxnSpPr>
        <p:spPr>
          <a:xfrm>
            <a:off x="4114800" y="1366839"/>
            <a:ext cx="0" cy="274320"/>
          </a:xfrm>
          <a:prstGeom prst="straightConnector1">
            <a:avLst/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hape 5"/>
          <p:cNvSpPr/>
          <p:nvPr/>
        </p:nvSpPr>
        <p:spPr>
          <a:xfrm>
            <a:off x="3108960" y="1645920"/>
            <a:ext cx="2011680" cy="41148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구구단 프로그램 순서도 (Flowchart)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91840" y="1051560"/>
            <a:ext cx="164592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91840" y="10515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시작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1645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헤더 출력 (2단~9단 제목)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2240280"/>
            <a:ext cx="20116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108960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dan = 2  (초기화)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2834640"/>
            <a:ext cx="20116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D9770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10896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917"/>
                </a:solidFill>
              </a:rPr>
              <a:t>dan ≤ 9 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31945" y="327279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</a:rPr>
              <a:t>YES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08960" y="3429000"/>
            <a:ext cx="20116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108960" y="3429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 = 1  (초기화)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3977640"/>
            <a:ext cx="20116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D9770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108960" y="3977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917"/>
                </a:solidFill>
              </a:rPr>
              <a:t>i ≤ 9 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2930" y="401421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</a:rPr>
              <a:t>YES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4005072"/>
            <a:ext cx="2011680" cy="41148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00800" y="40050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dan×i 출력 → i++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06640" y="4416552"/>
            <a:ext cx="0" cy="36576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131945" y="4406265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NO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08960" y="4572000"/>
            <a:ext cx="20116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108960" y="4572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줄바꿈 출력 + dan++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108960" y="4782312"/>
            <a:ext cx="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2011680" y="3063240"/>
            <a:ext cx="0" cy="1724787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943600" y="28346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NO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66560" y="2852928"/>
            <a:ext cx="137160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766560" y="285292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종료</a:t>
            </a:r>
            <a:endParaRPr lang="en-US" sz="1300" dirty="0"/>
          </a:p>
        </p:txBody>
      </p:sp>
      <p:sp>
        <p:nvSpPr>
          <p:cNvPr id="40" name="Shape 33">
            <a:extLst>
              <a:ext uri="{FF2B5EF4-FFF2-40B4-BE49-F238E27FC236}">
                <a16:creationId xmlns:a16="http://schemas.microsoft.com/office/drawing/2014/main" id="{ED41D119-0E1B-DC0F-AFEE-61AEEBF312FC}"/>
              </a:ext>
            </a:extLst>
          </p:cNvPr>
          <p:cNvSpPr/>
          <p:nvPr/>
        </p:nvSpPr>
        <p:spPr>
          <a:xfrm>
            <a:off x="2011680" y="4788027"/>
            <a:ext cx="10972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18F9B4A3-E801-1232-09F3-2F3C99B854F6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011680" y="3063240"/>
            <a:ext cx="1097280" cy="0"/>
          </a:xfrm>
          <a:prstGeom prst="straightConnector1">
            <a:avLst/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FE9A9-00D6-859E-D7A6-0AAEAAED3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32083A-73E7-896A-9B73-EECDDB593863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DDF2DA-00E3-905F-EA48-2D142A8AEF77}"/>
              </a:ext>
            </a:extLst>
          </p:cNvPr>
          <p:cNvSpPr/>
          <p:nvPr/>
        </p:nvSpPr>
        <p:spPr>
          <a:xfrm>
            <a:off x="274320" y="216027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7200" dirty="0">
                <a:solidFill>
                  <a:schemeClr val="bg1"/>
                </a:solidFill>
              </a:rPr>
              <a:t>Thank you!</a:t>
            </a:r>
            <a:endParaRPr lang="en-US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915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611</Words>
  <Application>Microsoft Office PowerPoint</Application>
  <PresentationFormat>화면 슬라이드 쇼(16:9)</PresentationFormat>
  <Paragraphs>143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C_PRG_숙제5</dc:title>
  <dc:subject>PptxGenJS Presentation</dc:subject>
  <dc:creator>PptxGenJS</dc:creator>
  <cp:lastModifiedBy>정 은호</cp:lastModifiedBy>
  <cp:revision>5</cp:revision>
  <dcterms:created xsi:type="dcterms:W3CDTF">2026-05-13T05:54:05Z</dcterms:created>
  <dcterms:modified xsi:type="dcterms:W3CDTF">2026-05-13T06:23:30Z</dcterms:modified>
</cp:coreProperties>
</file>